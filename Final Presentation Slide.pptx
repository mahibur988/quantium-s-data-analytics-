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9"/>
  </p:notesMasterIdLst>
  <p:sldIdLst>
    <p:sldId id="4778" r:id="rId2"/>
    <p:sldId id="4780" r:id="rId3"/>
    <p:sldId id="4779" r:id="rId4"/>
    <p:sldId id="4782" r:id="rId5"/>
    <p:sldId id="4783" r:id="rId6"/>
    <p:sldId id="4784" r:id="rId7"/>
    <p:sldId id="4785" r:id="rId8"/>
  </p:sldIdLst>
  <p:sldSz cx="12192000" cy="6858000"/>
  <p:notesSz cx="6858000" cy="9144000"/>
  <p:embeddedFontLst>
    <p:embeddedFont>
      <p:font typeface="Roboto" panose="02000000000000000000" pitchFamily="2" charset="0"/>
      <p:regular r:id="rId10"/>
      <p:bold r:id="rId11"/>
      <p:italic r:id="rId12"/>
      <p:boldItalic r:id="rId13"/>
    </p:embeddedFont>
    <p:embeddedFont>
      <p:font typeface="Roboto Light" panose="02000000000000000000" pitchFamily="2" charset="0"/>
      <p:regular r:id="rId14"/>
      <p:italic r:id="rId15"/>
    </p:embeddedFont>
    <p:embeddedFont>
      <p:font typeface="Roboto Medium" panose="02000000000000000000" pitchFamily="2" charset="0"/>
      <p:regular r:id="rId16"/>
      <p: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4780"/>
            <p14:sldId id="4779"/>
            <p14:sldId id="4782"/>
            <p14:sldId id="4783"/>
            <p14:sldId id="4784"/>
            <p14:sldId id="4785"/>
          </p14:sldIdLst>
        </p14:section>
        <p14:section name="Disclaimer" id="{1BDF34DF-3DC5-4B3F-AADB-BBEF917A852B}">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D8CB1B-846F-4E25-A9E4-BFE5BC5E378F}" v="2" dt="2026-06-09T21:25:09.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101" d="100"/>
          <a:sy n="101" d="100"/>
        </p:scale>
        <p:origin x="1296" y="102"/>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bur R. Mahi" userId="0bb1e013-744e-49de-975c-c3f870163c10" providerId="ADAL" clId="{57B32AA9-0BE8-469F-B114-2D5578D91898}"/>
    <pc:docChg chg="modSld">
      <pc:chgData name="Mahibur R. Mahi" userId="0bb1e013-744e-49de-975c-c3f870163c10" providerId="ADAL" clId="{57B32AA9-0BE8-469F-B114-2D5578D91898}" dt="2026-06-09T21:25:49.687" v="21" actId="1076"/>
      <pc:docMkLst>
        <pc:docMk/>
      </pc:docMkLst>
      <pc:sldChg chg="addSp modSp mod">
        <pc:chgData name="Mahibur R. Mahi" userId="0bb1e013-744e-49de-975c-c3f870163c10" providerId="ADAL" clId="{57B32AA9-0BE8-469F-B114-2D5578D91898}" dt="2026-06-09T21:25:49.687" v="21" actId="1076"/>
        <pc:sldMkLst>
          <pc:docMk/>
          <pc:sldMk cId="4221212761" sldId="4782"/>
        </pc:sldMkLst>
        <pc:spChg chg="mod">
          <ac:chgData name="Mahibur R. Mahi" userId="0bb1e013-744e-49de-975c-c3f870163c10" providerId="ADAL" clId="{57B32AA9-0BE8-469F-B114-2D5578D91898}" dt="2026-06-09T21:25:41.117" v="17" actId="1076"/>
          <ac:spMkLst>
            <pc:docMk/>
            <pc:sldMk cId="4221212761" sldId="4782"/>
            <ac:spMk id="3" creationId="{D84857D9-63F8-D36B-636F-D20101CF46C4}"/>
          </ac:spMkLst>
        </pc:spChg>
        <pc:picChg chg="add mod">
          <ac:chgData name="Mahibur R. Mahi" userId="0bb1e013-744e-49de-975c-c3f870163c10" providerId="ADAL" clId="{57B32AA9-0BE8-469F-B114-2D5578D91898}" dt="2026-06-09T21:25:49.687" v="21" actId="1076"/>
          <ac:picMkLst>
            <pc:docMk/>
            <pc:sldMk cId="4221212761" sldId="4782"/>
            <ac:picMk id="6" creationId="{71CBC606-CD4F-9E01-1D75-A22C78CA591C}"/>
          </ac:picMkLst>
        </pc:picChg>
      </pc:sldChg>
      <pc:sldChg chg="addSp modSp mod">
        <pc:chgData name="Mahibur R. Mahi" userId="0bb1e013-744e-49de-975c-c3f870163c10" providerId="ADAL" clId="{57B32AA9-0BE8-469F-B114-2D5578D91898}" dt="2026-06-09T21:23:09.880" v="10" actId="14100"/>
        <pc:sldMkLst>
          <pc:docMk/>
          <pc:sldMk cId="859750405" sldId="4783"/>
        </pc:sldMkLst>
        <pc:spChg chg="mod">
          <ac:chgData name="Mahibur R. Mahi" userId="0bb1e013-744e-49de-975c-c3f870163c10" providerId="ADAL" clId="{57B32AA9-0BE8-469F-B114-2D5578D91898}" dt="2026-06-09T21:23:02.444" v="5" actId="1076"/>
          <ac:spMkLst>
            <pc:docMk/>
            <pc:sldMk cId="859750405" sldId="4783"/>
            <ac:spMk id="5" creationId="{AD2E6298-28F0-657A-BB27-BE4FAAF7A3F3}"/>
          </ac:spMkLst>
        </pc:spChg>
        <pc:picChg chg="add mod">
          <ac:chgData name="Mahibur R. Mahi" userId="0bb1e013-744e-49de-975c-c3f870163c10" providerId="ADAL" clId="{57B32AA9-0BE8-469F-B114-2D5578D91898}" dt="2026-06-09T21:23:09.880" v="10" actId="14100"/>
          <ac:picMkLst>
            <pc:docMk/>
            <pc:sldMk cId="859750405" sldId="4783"/>
            <ac:picMk id="11" creationId="{7CEF7D40-FF52-230A-706A-83F2AF676F4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9/06/2026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US" dirty="0"/>
              <a:t>Retail Analytics – Chips Category Review</a:t>
            </a:r>
            <a:endParaRPr lang="en-AU" dirty="0"/>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US" dirty="0"/>
              <a:t>Prepared for: Julia</a:t>
            </a:r>
          </a:p>
          <a:p>
            <a:r>
              <a:rPr lang="en-US" dirty="0"/>
              <a:t>Prepared by: Mahibur Mahi</a:t>
            </a:r>
          </a:p>
          <a:p>
            <a:endParaRPr lang="en-AU" dirty="0"/>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1 - </a:t>
            </a:r>
            <a:r>
              <a:rPr lang="en-US" sz="1400" b="1" dirty="0"/>
              <a:t>Customer and Product Insights</a:t>
            </a:r>
            <a:endParaRPr lang="en-AU" sz="1400" b="1"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2 - </a:t>
            </a:r>
            <a:r>
              <a:rPr lang="en-US" sz="1400" b="1" dirty="0"/>
              <a:t>Trial Store Performance</a:t>
            </a:r>
            <a:endParaRPr lang="en-AU" sz="1400" b="1"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3905085" y="1905000"/>
            <a:ext cx="7580989" cy="1718742"/>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US" sz="1200" dirty="0"/>
              <a:t>Mainstream customers generated the highest total sales ($750,744.50).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Older Singles/Couples were the highest revenue-generating life-stage segment ($404,226.75).</a:t>
            </a:r>
          </a:p>
          <a:p>
            <a:r>
              <a:rPr lang="en-US" sz="1200" dirty="0"/>
              <a:t> </a:t>
            </a:r>
          </a:p>
          <a:p>
            <a:pPr marL="171450" indent="-171450">
              <a:buFont typeface="Arial" panose="020B0604020202020204" pitchFamily="34" charset="0"/>
              <a:buChar char="•"/>
            </a:pPr>
            <a:r>
              <a:rPr lang="en-US" sz="1200" dirty="0"/>
              <a:t>Kettle was the top-performing chip brand, generating approximately $390K in sales. 175g packs were the most popular pack size, contributing nearly $485K in sales. </a:t>
            </a:r>
          </a:p>
          <a:p>
            <a:endParaRPr lang="en-US" sz="1200" dirty="0"/>
          </a:p>
          <a:p>
            <a:pPr marL="171450" indent="-171450">
              <a:buFont typeface="Arial" panose="020B0604020202020204" pitchFamily="34" charset="0"/>
              <a:buChar char="•"/>
            </a:pPr>
            <a:r>
              <a:rPr lang="en-US" sz="1200" dirty="0"/>
              <a:t>Young Singles/Couples (Mainstream) recorded the highest average spend per transaction.</a:t>
            </a:r>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US" sz="1200" dirty="0"/>
              <a:t>Trial Store 77 outperformed Control Store 233 during the trial period. Trial Store 86 generated higher sales than Control Store 155, particularly during March 2019.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Trial Store 88 showed the strongest performance improvement compared with Control Store 237.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All three trial stores achieved higher sales than their respective control stores during the trial period. </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Results suggest that the new store layout had a positive impact on customer purchasing </a:t>
            </a:r>
            <a:r>
              <a:rPr lang="en-US" sz="1200" dirty="0" err="1"/>
              <a:t>behaviour</a:t>
            </a:r>
            <a:r>
              <a:rPr lang="en-US" sz="1200" dirty="0"/>
              <a:t> and sales performance.</a:t>
            </a:r>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1162049" y="400050"/>
            <a:ext cx="10086975" cy="971550"/>
          </a:xfrm>
        </p:spPr>
        <p:txBody>
          <a:bodyPr/>
          <a:lstStyle/>
          <a:p>
            <a:r>
              <a:rPr kumimoji="0" lang="en-US" sz="4400" b="0" i="0" u="none" strike="noStrike" kern="1200" cap="none" spc="0" normalizeH="0" baseline="0" noProof="0" dirty="0">
                <a:ln>
                  <a:noFill/>
                </a:ln>
                <a:solidFill>
                  <a:prstClr val="black"/>
                </a:solidFill>
                <a:effectLst/>
                <a:uLnTx/>
                <a:uFillTx/>
                <a:latin typeface="Calibri"/>
                <a:ea typeface="+mj-ea"/>
                <a:cs typeface="+mj-cs"/>
              </a:rPr>
              <a:t>          Category Performance Overview</a:t>
            </a:r>
            <a:endParaRPr lang="en-AU" dirty="0"/>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pPr marL="342900" indent="-342900">
              <a:buFont typeface="Arial" panose="020B0604020202020204" pitchFamily="34" charset="0"/>
              <a:buChar char="•"/>
            </a:pPr>
            <a:r>
              <a:rPr lang="en-US" dirty="0"/>
              <a:t>Older Singles/Couples generated the highest sales ($404,226.75).</a:t>
            </a:r>
          </a:p>
          <a:p>
            <a:pPr marL="342900" indent="-342900">
              <a:buFont typeface="Arial" panose="020B0604020202020204" pitchFamily="34" charset="0"/>
              <a:buChar char="•"/>
            </a:pPr>
            <a:r>
              <a:rPr lang="en-US" dirty="0"/>
              <a:t>Young Families and Retirees also contributed significantly.</a:t>
            </a:r>
          </a:p>
          <a:p>
            <a:pPr marL="342900" indent="-342900">
              <a:buFont typeface="Arial" panose="020B0604020202020204" pitchFamily="34" charset="0"/>
              <a:buChar char="•"/>
            </a:pPr>
            <a:r>
              <a:rPr lang="en-US" dirty="0"/>
              <a:t>New Families represented the smallest segment.</a:t>
            </a:r>
          </a:p>
          <a:p>
            <a:endParaRPr lang="en-AU" dirty="0"/>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                            </a:t>
            </a:r>
            <a:r>
              <a:rPr lang="en-US" sz="3600" dirty="0"/>
              <a:t>Affluence &amp; Customer </a:t>
            </a:r>
            <a:r>
              <a:rPr lang="en-US" sz="3600" dirty="0" err="1"/>
              <a:t>Behaviour</a:t>
            </a:r>
            <a:endParaRPr lang="en-AU" sz="3600"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3" name="TextBox 2">
            <a:extLst>
              <a:ext uri="{FF2B5EF4-FFF2-40B4-BE49-F238E27FC236}">
                <a16:creationId xmlns:a16="http://schemas.microsoft.com/office/drawing/2014/main" id="{D84857D9-63F8-D36B-636F-D20101CF46C4}"/>
              </a:ext>
            </a:extLst>
          </p:cNvPr>
          <p:cNvSpPr txBox="1"/>
          <p:nvPr/>
        </p:nvSpPr>
        <p:spPr>
          <a:xfrm>
            <a:off x="1438275" y="1277771"/>
            <a:ext cx="10238300" cy="3676650"/>
          </a:xfrm>
          <a:prstGeom prst="rect">
            <a:avLst/>
          </a:prstGeom>
          <a:noFill/>
        </p:spPr>
        <p:txBody>
          <a:bodyPr wrap="square" lIns="0" tIns="0" rIns="0" bIns="0" rtlCol="0" anchor="t">
            <a:noAutofit/>
          </a:bodyPr>
          <a:lstStyle/>
          <a:p>
            <a:pPr marL="571500" indent="-571500">
              <a:buFont typeface="Arial" panose="020B0604020202020204" pitchFamily="34" charset="0"/>
              <a:buChar char="•"/>
            </a:pPr>
            <a:r>
              <a:rPr lang="en-US" sz="3200" dirty="0"/>
              <a:t>Mainstream customers generated the highest sales ($750,744.50).</a:t>
            </a:r>
          </a:p>
          <a:p>
            <a:pPr marL="571500" indent="-571500">
              <a:buFont typeface="Arial" panose="020B0604020202020204" pitchFamily="34" charset="0"/>
              <a:buChar char="•"/>
            </a:pPr>
            <a:r>
              <a:rPr lang="en-US" sz="3200" dirty="0"/>
              <a:t>Budget customers were the second-largest contributor.</a:t>
            </a:r>
          </a:p>
          <a:p>
            <a:pPr marL="571500" indent="-571500">
              <a:buFont typeface="Arial" panose="020B0604020202020204" pitchFamily="34" charset="0"/>
              <a:buChar char="•"/>
            </a:pPr>
            <a:r>
              <a:rPr lang="en-US" sz="3200" dirty="0"/>
              <a:t>Premium customers generated the lowest overall sales.</a:t>
            </a:r>
            <a:br>
              <a:rPr lang="en-US" sz="3200" dirty="0"/>
            </a:br>
            <a:endParaRPr lang="en-US" sz="3200" dirty="0"/>
          </a:p>
          <a:p>
            <a:pPr algn="l"/>
            <a:endParaRPr lang="en-US" sz="1200" dirty="0" err="1">
              <a:latin typeface="Roboto Light" panose="02000000000000000000" pitchFamily="2" charset="0"/>
              <a:ea typeface="Roboto Light" panose="02000000000000000000" pitchFamily="2" charset="0"/>
            </a:endParaRPr>
          </a:p>
        </p:txBody>
      </p:sp>
      <p:pic>
        <p:nvPicPr>
          <p:cNvPr id="6" name="Picture 5">
            <a:extLst>
              <a:ext uri="{FF2B5EF4-FFF2-40B4-BE49-F238E27FC236}">
                <a16:creationId xmlns:a16="http://schemas.microsoft.com/office/drawing/2014/main" id="{71CBC606-CD4F-9E01-1D75-A22C78CA5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6859" y="3785824"/>
            <a:ext cx="5386166" cy="2827612"/>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330325" y="407783"/>
            <a:ext cx="10479600" cy="824400"/>
          </a:xfrm>
        </p:spPr>
        <p:txBody>
          <a:bodyPr/>
          <a:lstStyle/>
          <a:p>
            <a:r>
              <a:rPr lang="en-US" dirty="0"/>
              <a:t>                                        </a:t>
            </a:r>
            <a:r>
              <a:rPr lang="en-US" sz="3600" dirty="0"/>
              <a:t>Product Preferences</a:t>
            </a:r>
            <a:endParaRPr lang="en-AU" sz="3600"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5" name="TextBox 4">
            <a:extLst>
              <a:ext uri="{FF2B5EF4-FFF2-40B4-BE49-F238E27FC236}">
                <a16:creationId xmlns:a16="http://schemas.microsoft.com/office/drawing/2014/main" id="{AD2E6298-28F0-657A-BB27-BE4FAAF7A3F3}"/>
              </a:ext>
            </a:extLst>
          </p:cNvPr>
          <p:cNvSpPr txBox="1"/>
          <p:nvPr/>
        </p:nvSpPr>
        <p:spPr>
          <a:xfrm>
            <a:off x="1712375" y="1639966"/>
            <a:ext cx="9715500" cy="3219450"/>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US" sz="3200" dirty="0"/>
              <a:t> Kettle was the leading chip brand.</a:t>
            </a:r>
          </a:p>
          <a:p>
            <a:pPr marL="171450" indent="-171450">
              <a:buFont typeface="Arial" panose="020B0604020202020204" pitchFamily="34" charset="0"/>
              <a:buChar char="•"/>
            </a:pPr>
            <a:r>
              <a:rPr lang="en-US" sz="3200" dirty="0"/>
              <a:t> Smiths and Doritos were also strong performers.</a:t>
            </a:r>
          </a:p>
          <a:p>
            <a:pPr marL="171450" indent="-171450">
              <a:buFont typeface="Arial" panose="020B0604020202020204" pitchFamily="34" charset="0"/>
              <a:buChar char="•"/>
            </a:pPr>
            <a:r>
              <a:rPr lang="en-US" sz="3200" dirty="0"/>
              <a:t> 175g packs were the most popular pack size.</a:t>
            </a:r>
          </a:p>
          <a:p>
            <a:pPr algn="l"/>
            <a:endParaRPr lang="en-US" sz="1200" dirty="0" err="1">
              <a:latin typeface="Roboto Light" panose="02000000000000000000" pitchFamily="2" charset="0"/>
              <a:ea typeface="Roboto Light" panose="02000000000000000000" pitchFamily="2" charset="0"/>
            </a:endParaRPr>
          </a:p>
        </p:txBody>
      </p:sp>
      <p:pic>
        <p:nvPicPr>
          <p:cNvPr id="11" name="Picture 10">
            <a:extLst>
              <a:ext uri="{FF2B5EF4-FFF2-40B4-BE49-F238E27FC236}">
                <a16:creationId xmlns:a16="http://schemas.microsoft.com/office/drawing/2014/main" id="{7CEF7D40-FF52-230A-706A-83F2AF676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8875" y="3429000"/>
            <a:ext cx="7286625" cy="2743200"/>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pPr marL="342900" indent="-342900">
              <a:buFont typeface="Arial" panose="020B0604020202020204" pitchFamily="34" charset="0"/>
              <a:buChar char="•"/>
            </a:pPr>
            <a:r>
              <a:rPr lang="en-US" dirty="0"/>
              <a:t>Store 77 vs 233: Successful</a:t>
            </a:r>
          </a:p>
          <a:p>
            <a:pPr marL="342900" indent="-342900">
              <a:buFont typeface="Arial" panose="020B0604020202020204" pitchFamily="34" charset="0"/>
              <a:buChar char="•"/>
            </a:pPr>
            <a:r>
              <a:rPr lang="en-US" dirty="0"/>
              <a:t>Store 86 vs 155: Successful</a:t>
            </a:r>
          </a:p>
          <a:p>
            <a:pPr marL="342900" indent="-342900">
              <a:buFont typeface="Arial" panose="020B0604020202020204" pitchFamily="34" charset="0"/>
              <a:buChar char="•"/>
            </a:pPr>
            <a:r>
              <a:rPr lang="en-US" dirty="0"/>
              <a:t>Store 88 vs 237: Most Successful</a:t>
            </a:r>
          </a:p>
          <a:p>
            <a:endParaRPr lang="en-AU" dirty="0"/>
          </a:p>
        </p:txBody>
      </p:sp>
      <p:pic>
        <p:nvPicPr>
          <p:cNvPr id="5" name="Picture 4">
            <a:extLst>
              <a:ext uri="{FF2B5EF4-FFF2-40B4-BE49-F238E27FC236}">
                <a16:creationId xmlns:a16="http://schemas.microsoft.com/office/drawing/2014/main" id="{41000C87-F3A6-13DA-2C19-B24FBDED79FD}"/>
              </a:ext>
            </a:extLst>
          </p:cNvPr>
          <p:cNvPicPr>
            <a:picLocks noChangeAspect="1"/>
          </p:cNvPicPr>
          <p:nvPr/>
        </p:nvPicPr>
        <p:blipFill>
          <a:blip r:embed="rId2"/>
          <a:stretch>
            <a:fillRect/>
          </a:stretch>
        </p:blipFill>
        <p:spPr>
          <a:xfrm>
            <a:off x="3166611" y="0"/>
            <a:ext cx="6011177" cy="1176630"/>
          </a:xfrm>
          <a:prstGeom prst="rect">
            <a:avLst/>
          </a:prstGeom>
        </p:spPr>
      </p:pic>
      <p:pic>
        <p:nvPicPr>
          <p:cNvPr id="15" name="Picture 14">
            <a:extLst>
              <a:ext uri="{FF2B5EF4-FFF2-40B4-BE49-F238E27FC236}">
                <a16:creationId xmlns:a16="http://schemas.microsoft.com/office/drawing/2014/main" id="{125C3E8C-25C5-74FE-4CF4-C17233F864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3146" y="861650"/>
            <a:ext cx="3358853" cy="1933822"/>
          </a:xfrm>
          <a:prstGeom prst="rect">
            <a:avLst/>
          </a:prstGeom>
        </p:spPr>
      </p:pic>
      <p:pic>
        <p:nvPicPr>
          <p:cNvPr id="17" name="Picture 16">
            <a:extLst>
              <a:ext uri="{FF2B5EF4-FFF2-40B4-BE49-F238E27FC236}">
                <a16:creationId xmlns:a16="http://schemas.microsoft.com/office/drawing/2014/main" id="{7B662F9E-DFD0-DA49-EE8B-ED153F4AC3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27044" y="2888275"/>
            <a:ext cx="3397143" cy="2148251"/>
          </a:xfrm>
          <a:prstGeom prst="rect">
            <a:avLst/>
          </a:prstGeom>
        </p:spPr>
      </p:pic>
      <p:pic>
        <p:nvPicPr>
          <p:cNvPr id="19" name="Picture 18">
            <a:extLst>
              <a:ext uri="{FF2B5EF4-FFF2-40B4-BE49-F238E27FC236}">
                <a16:creationId xmlns:a16="http://schemas.microsoft.com/office/drawing/2014/main" id="{76AC5551-3D9E-29A9-CFF3-C0A8C930F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33146" y="5036526"/>
            <a:ext cx="3184937" cy="1711645"/>
          </a:xfrm>
          <a:prstGeom prst="rect">
            <a:avLst/>
          </a:prstGeom>
        </p:spPr>
      </p:pic>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2800350" y="499231"/>
            <a:ext cx="11498617" cy="824400"/>
          </a:xfrm>
        </p:spPr>
        <p:txBody>
          <a:bodyPr/>
          <a:lstStyle/>
          <a:p>
            <a:r>
              <a:rPr lang="en-US" sz="3600" dirty="0"/>
              <a:t>Recommendations &amp; Conclusion</a:t>
            </a:r>
            <a:endParaRPr lang="en-AU" sz="3600"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3" name="TextBox 2">
            <a:extLst>
              <a:ext uri="{FF2B5EF4-FFF2-40B4-BE49-F238E27FC236}">
                <a16:creationId xmlns:a16="http://schemas.microsoft.com/office/drawing/2014/main" id="{25A2A30E-9076-AD33-452C-98B2F339EF71}"/>
              </a:ext>
            </a:extLst>
          </p:cNvPr>
          <p:cNvSpPr txBox="1"/>
          <p:nvPr/>
        </p:nvSpPr>
        <p:spPr>
          <a:xfrm>
            <a:off x="1733550" y="2085975"/>
            <a:ext cx="9934575" cy="3638550"/>
          </a:xfrm>
          <a:prstGeom prst="rect">
            <a:avLst/>
          </a:prstGeom>
          <a:noFill/>
        </p:spPr>
        <p:txBody>
          <a:bodyPr wrap="square" lIns="0" tIns="0" rIns="0" bIns="0" rtlCol="0" anchor="t">
            <a:noAutofit/>
          </a:bodyPr>
          <a:lstStyle/>
          <a:p>
            <a:pPr marL="171450" indent="-171450" algn="l">
              <a:buFont typeface="Arial" panose="020B0604020202020204" pitchFamily="34" charset="0"/>
              <a:buChar char="•"/>
            </a:pPr>
            <a:r>
              <a:rPr lang="en-US" sz="3200" dirty="0">
                <a:latin typeface="Roboto Light" panose="02000000000000000000" pitchFamily="2" charset="0"/>
                <a:ea typeface="Roboto Light" panose="02000000000000000000" pitchFamily="2" charset="0"/>
              </a:rPr>
              <a:t>Focus on Mainstream customers.</a:t>
            </a:r>
          </a:p>
          <a:p>
            <a:pPr marL="171450" indent="-171450" algn="l">
              <a:buFont typeface="Arial" panose="020B0604020202020204" pitchFamily="34" charset="0"/>
              <a:buChar char="•"/>
            </a:pPr>
            <a:r>
              <a:rPr lang="en-US" sz="3200" dirty="0" err="1">
                <a:latin typeface="Roboto Light" panose="02000000000000000000" pitchFamily="2" charset="0"/>
                <a:ea typeface="Roboto Light" panose="02000000000000000000" pitchFamily="2" charset="0"/>
              </a:rPr>
              <a:t>Prioritise</a:t>
            </a:r>
            <a:r>
              <a:rPr lang="en-US" sz="3200" dirty="0">
                <a:latin typeface="Roboto Light" panose="02000000000000000000" pitchFamily="2" charset="0"/>
                <a:ea typeface="Roboto Light" panose="02000000000000000000" pitchFamily="2" charset="0"/>
              </a:rPr>
              <a:t> Older Singles/Couples and Young Singles/Couples.</a:t>
            </a:r>
          </a:p>
          <a:p>
            <a:pPr marL="171450" indent="-171450" algn="l">
              <a:buFont typeface="Arial" panose="020B0604020202020204" pitchFamily="34" charset="0"/>
              <a:buChar char="•"/>
            </a:pPr>
            <a:r>
              <a:rPr lang="en-US" sz="3200" dirty="0">
                <a:latin typeface="Roboto Light" panose="02000000000000000000" pitchFamily="2" charset="0"/>
                <a:ea typeface="Roboto Light" panose="02000000000000000000" pitchFamily="2" charset="0"/>
              </a:rPr>
              <a:t>Maintain inventory of Kettle products and 175g packs.</a:t>
            </a:r>
          </a:p>
          <a:p>
            <a:pPr marL="171450" indent="-171450" algn="l">
              <a:buFont typeface="Arial" panose="020B0604020202020204" pitchFamily="34" charset="0"/>
              <a:buChar char="•"/>
            </a:pPr>
            <a:r>
              <a:rPr lang="en-US" sz="3200" dirty="0">
                <a:latin typeface="Roboto Light" panose="02000000000000000000" pitchFamily="2" charset="0"/>
                <a:ea typeface="Roboto Light" panose="02000000000000000000" pitchFamily="2" charset="0"/>
              </a:rPr>
              <a:t>Consider rolling out the trial layout to additional stores.</a:t>
            </a:r>
          </a:p>
          <a:p>
            <a:pPr algn="l"/>
            <a:endParaRPr lang="en-US"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6367</TotalTime>
  <Words>356</Words>
  <Application>Microsoft Office PowerPoint</Application>
  <PresentationFormat>Widescreen</PresentationFormat>
  <Paragraphs>45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Roboto</vt:lpstr>
      <vt:lpstr>Roboto Medium</vt:lpstr>
      <vt:lpstr>Calibri</vt:lpstr>
      <vt:lpstr>Roboto Light</vt:lpstr>
      <vt:lpstr>Arial</vt:lpstr>
      <vt:lpstr>Office Theme</vt:lpstr>
      <vt:lpstr>Retail Analytics – Chips Category Review</vt:lpstr>
      <vt:lpstr>PowerPoint Presentation</vt:lpstr>
      <vt:lpstr>          Category Performance Overview</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Mahibur R. Mahi</cp:lastModifiedBy>
  <cp:revision>465</cp:revision>
  <dcterms:created xsi:type="dcterms:W3CDTF">2018-02-07T23:23:24Z</dcterms:created>
  <dcterms:modified xsi:type="dcterms:W3CDTF">2026-06-09T21:25:50Z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